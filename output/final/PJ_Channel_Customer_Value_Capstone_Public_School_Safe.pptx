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7ea697ce0442f" /><Relationship Type="http://schemas.openxmlformats.org/officeDocument/2006/relationships/extended-properties" Target="/docProps/app.xml" Id="R4008cecb7f254c15" /><Relationship Type="http://schemas.openxmlformats.org/officeDocument/2006/relationships/officeDocument" Target="/ppt/presentation.xml" Id="Re100ac71cf0e45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285de59184f4e"/>
  </p:sldMasterIdLst>
  <p:notesMasterIdLst>
    <p:notesMasterId xmlns:r="http://schemas.openxmlformats.org/officeDocument/2006/relationships" r:id="R4b70801520ed48f2"/>
  </p:notesMasterIdLst>
  <p:sldIdLst>
    <p:sldId xmlns:r="http://schemas.openxmlformats.org/officeDocument/2006/relationships" id="256" r:id="Rf004a3620f774a02"/>
    <p:sldId xmlns:r="http://schemas.openxmlformats.org/officeDocument/2006/relationships" id="257" r:id="Rdebe228bc27c46c1"/>
    <p:sldId xmlns:r="http://schemas.openxmlformats.org/officeDocument/2006/relationships" id="258" r:id="R71af596338314604"/>
    <p:sldId xmlns:r="http://schemas.openxmlformats.org/officeDocument/2006/relationships" id="259" r:id="Rb36e5396f6da47d3"/>
    <p:sldId xmlns:r="http://schemas.openxmlformats.org/officeDocument/2006/relationships" id="260" r:id="R3aae75c2ada34a12"/>
    <p:sldId xmlns:r="http://schemas.openxmlformats.org/officeDocument/2006/relationships" id="261" r:id="R3b8bbbf774854e5f"/>
    <p:sldId xmlns:r="http://schemas.openxmlformats.org/officeDocument/2006/relationships" id="262" r:id="R01dd68e2af2f4033"/>
    <p:sldId xmlns:r="http://schemas.openxmlformats.org/officeDocument/2006/relationships" id="263" r:id="Rf0155d92d42440bc"/>
    <p:sldId xmlns:r="http://schemas.openxmlformats.org/officeDocument/2006/relationships" id="264" r:id="Rbfa925ff404a434f"/>
    <p:sldId xmlns:r="http://schemas.openxmlformats.org/officeDocument/2006/relationships" id="265" r:id="Rb28c4d9c415c4a14"/>
    <p:sldId xmlns:r="http://schemas.openxmlformats.org/officeDocument/2006/relationships" id="266" r:id="R265873ee33094689"/>
    <p:sldId xmlns:r="http://schemas.openxmlformats.org/officeDocument/2006/relationships" id="267" r:id="Rae44ad9810904edd"/>
    <p:sldId xmlns:r="http://schemas.openxmlformats.org/officeDocument/2006/relationships" id="268" r:id="R1e5e5f34e4594e3b"/>
    <p:sldId xmlns:r="http://schemas.openxmlformats.org/officeDocument/2006/relationships" id="269" r:id="R92268171b0084dc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285de59184f4e" /><Relationship Type="http://schemas.openxmlformats.org/officeDocument/2006/relationships/theme" Target="/ppt/theme/theme1.xml" Id="Ra70ccd142ef14f12" /><Relationship Type="http://schemas.openxmlformats.org/officeDocument/2006/relationships/notesMaster" Target="/ppt/notesMasters/notesMaster1.xml" Id="R4b70801520ed48f2" /><Relationship Type="http://schemas.openxmlformats.org/officeDocument/2006/relationships/presProps" Target="/ppt/presProps.xml" Id="Rdeba9549935b4209" /><Relationship Type="http://schemas.openxmlformats.org/officeDocument/2006/relationships/viewProps" Target="/ppt/viewProps.xml" Id="Re5e947513c344bde" /><Relationship Type="http://schemas.openxmlformats.org/officeDocument/2006/relationships/tableStyles" Target="/ppt/tableStyles.xml" Id="R121c45e4826a4d73" /><Relationship Type="http://schemas.openxmlformats.org/officeDocument/2006/relationships/slide" Target="/ppt/slides/slide1.xml" Id="Rf004a3620f774a02" /><Relationship Type="http://schemas.openxmlformats.org/officeDocument/2006/relationships/slide" Target="/ppt/slides/slide2.xml" Id="Rdebe228bc27c46c1" /><Relationship Type="http://schemas.openxmlformats.org/officeDocument/2006/relationships/slide" Target="/ppt/slides/slide3.xml" Id="R71af596338314604" /><Relationship Type="http://schemas.openxmlformats.org/officeDocument/2006/relationships/slide" Target="/ppt/slides/slide4.xml" Id="Rb36e5396f6da47d3" /><Relationship Type="http://schemas.openxmlformats.org/officeDocument/2006/relationships/slide" Target="/ppt/slides/slide5.xml" Id="R3aae75c2ada34a12" /><Relationship Type="http://schemas.openxmlformats.org/officeDocument/2006/relationships/slide" Target="/ppt/slides/slide6.xml" Id="R3b8bbbf774854e5f" /><Relationship Type="http://schemas.openxmlformats.org/officeDocument/2006/relationships/slide" Target="/ppt/slides/slide7.xml" Id="R01dd68e2af2f4033" /><Relationship Type="http://schemas.openxmlformats.org/officeDocument/2006/relationships/slide" Target="/ppt/slides/slide8.xml" Id="Rf0155d92d42440bc" /><Relationship Type="http://schemas.openxmlformats.org/officeDocument/2006/relationships/slide" Target="/ppt/slides/slide9.xml" Id="Rbfa925ff404a434f" /><Relationship Type="http://schemas.openxmlformats.org/officeDocument/2006/relationships/slide" Target="/ppt/slides/slide10.xml" Id="Rb28c4d9c415c4a14" /><Relationship Type="http://schemas.openxmlformats.org/officeDocument/2006/relationships/slide" Target="/ppt/slides/slide11.xml" Id="R265873ee33094689" /><Relationship Type="http://schemas.openxmlformats.org/officeDocument/2006/relationships/slide" Target="/ppt/slides/slide12.xml" Id="Rae44ad9810904edd" /><Relationship Type="http://schemas.openxmlformats.org/officeDocument/2006/relationships/slide" Target="/ppt/slides/slide13.xml" Id="R1e5e5f34e4594e3b" /><Relationship Type="http://schemas.openxmlformats.org/officeDocument/2006/relationships/slide" Target="/ppt/slides/slide14.xml" Id="R92268171b0084d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f29a66b508e4b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3d2b9fd97a4e96" /><Relationship Type="http://schemas.openxmlformats.org/officeDocument/2006/relationships/notesMaster" Target="/ppt/notesMasters/notesMaster1.xml" Id="Rc7deb98233e64a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b3be5b4c9246d1" /><Relationship Type="http://schemas.openxmlformats.org/officeDocument/2006/relationships/notesMaster" Target="/ppt/notesMasters/notesMaster1.xml" Id="R8f55966108694c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393000f3af4106" /><Relationship Type="http://schemas.openxmlformats.org/officeDocument/2006/relationships/notesMaster" Target="/ppt/notesMasters/notesMaster1.xml" Id="R7cb2e7864a8d4d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d9eaeb30054d14" /><Relationship Type="http://schemas.openxmlformats.org/officeDocument/2006/relationships/notesMaster" Target="/ppt/notesMasters/notesMaster1.xml" Id="R9063b6eebe3149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7b031232e74beb" /><Relationship Type="http://schemas.openxmlformats.org/officeDocument/2006/relationships/notesMaster" Target="/ppt/notesMasters/notesMaster1.xml" Id="Rd01d810295304d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a2bb1822d4465e" /><Relationship Type="http://schemas.openxmlformats.org/officeDocument/2006/relationships/notesMaster" Target="/ppt/notesMasters/notesMaster1.xml" Id="Rd353beaee7cd4d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6c94add96f4bc1" /><Relationship Type="http://schemas.openxmlformats.org/officeDocument/2006/relationships/notesMaster" Target="/ppt/notesMasters/notesMaster1.xml" Id="R9645143b2ac044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1e42a1bbb64eb3" /><Relationship Type="http://schemas.openxmlformats.org/officeDocument/2006/relationships/notesMaster" Target="/ppt/notesMasters/notesMaster1.xml" Id="Rfa84670845d440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c8f09e3de845b1" /><Relationship Type="http://schemas.openxmlformats.org/officeDocument/2006/relationships/notesMaster" Target="/ppt/notesMasters/notesMaster1.xml" Id="R108059c29d9f4e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0752e1154649fa" /><Relationship Type="http://schemas.openxmlformats.org/officeDocument/2006/relationships/notesMaster" Target="/ppt/notesMasters/notesMaster1.xml" Id="R9bdc92f90f5945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f420aba303419d" /><Relationship Type="http://schemas.openxmlformats.org/officeDocument/2006/relationships/notesMaster" Target="/ppt/notesMasters/notesMaster1.xml" Id="R5fc37abe9ca246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462c38ddc3470c" /><Relationship Type="http://schemas.openxmlformats.org/officeDocument/2006/relationships/notesMaster" Target="/ppt/notesMasters/notesMaster1.xml" Id="R5bb518a3566f40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55d15df74d4e18" /><Relationship Type="http://schemas.openxmlformats.org/officeDocument/2006/relationships/notesMaster" Target="/ppt/notesMasters/notesMaster1.xml" Id="R1eb8b18a8ea14f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96a1e23c574bed" /><Relationship Type="http://schemas.openxmlformats.org/officeDocument/2006/relationships/notesMaster" Target="/ppt/notesMasters/notesMaster1.xml" Id="R0256d294f09b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capstone as a customer value analysis, not a raw data presentation. Emphasize that this is the public/school-safe version and that only aggregate outputs are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research question directly. The three measures intentionally move the analysis from acquisition activity to customer value and retention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analysis follows the customer after acquisition. The goal is to avoid over-weighting channels that generate activity but not durable customer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system roles. Shopify is value behavior, HubSpot is source bridge, Salesforce validates CRM/store context, GA4 validates marketing channels in aggregate, and Tableau presents aggregate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explicit safety slide. Point out that the customer value dataset exists locally for analysis but is not part of the public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technical work is staged: validate the base data, match and enrich, classify products, build value windows, then aggregate.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the validation hierarchy. HubSpot is the bridge for customer-level source labels; Salesforce and GA4 add confidence but do not replace Shopify customer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why eligibility matters: technical and imported buckets may have revenue, but they are not clean acquisition channels for headline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headline result slide. Keep the interpretation directional: Paid Search is strongest on revenue and repeat, Organic Search is strongest on follow-on consumables, and Direct / Owned has the largest sample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uses the sanitized aggregate Tableau screenshot for average 12-month revenue by channel. Paid Search has the highest average 12-month customer revenue among headline-eligible channels; CAC/profitability data is still needed before scaling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includes a sanitized aggregate Tableau screenshot for repeat purchase and follow-on consumables behavior. Paid Search has the strongest repeat rate, while Organic Search has the strongest follow-on consumables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includes the sanitized full Tableau dashboard screenshot. The dashboard summarizes KPI, revenue, behavior, monthly cohort, distribution, and eligibility views using aggregate-safe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candid about limitations. This is a strong aggregate value analysis, but profitability needs acquisition cost data and attribution quality can improve.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practical recommendations and transparency. The capstone does not claim final profitability, but it gives a clear aggregate value signal and a path for future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df9cc1fc54d2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4927bec2496441b" /><Relationship Type="http://schemas.openxmlformats.org/officeDocument/2006/relationships/slideLayout" Target="/ppt/slideLayouts/slideLayout2.xml" Id="Rf6abc80ae371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abc80ae371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32e648a11b4f8c" /><Relationship Type="http://schemas.openxmlformats.org/officeDocument/2006/relationships/notesSlide" Target="/ppt/notesSlides/notesSlide1.xml" Id="R90e9685f5b7949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1862c9fe274149" /><Relationship Type="http://schemas.openxmlformats.org/officeDocument/2006/relationships/notesSlide" Target="/ppt/notesSlides/notesSlide2.xml" Id="Rebde0eac183f47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6bdab0d20148e0" /><Relationship Type="http://schemas.openxmlformats.org/officeDocument/2006/relationships/notesSlide" Target="/ppt/notesSlides/notesSlide3.xml" Id="Rf010895c855e48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f7170ca6af450d" /><Relationship Type="http://schemas.openxmlformats.org/officeDocument/2006/relationships/notesSlide" Target="/ppt/notesSlides/notesSlide4.xml" Id="R9f790738461040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f292b299a943e5" /><Relationship Type="http://schemas.openxmlformats.org/officeDocument/2006/relationships/notesSlide" Target="/ppt/notesSlides/notesSlide5.xml" Id="Rbc497b25b11c48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9fe70e89d94dd9" /><Relationship Type="http://schemas.openxmlformats.org/officeDocument/2006/relationships/notesSlide" Target="/ppt/notesSlides/notesSlide6.xml" Id="Re89b42d2edea49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c9369dca7547c5" /><Relationship Type="http://schemas.openxmlformats.org/officeDocument/2006/relationships/notesSlide" Target="/ppt/notesSlides/notesSlide7.xml" Id="R13cf1ffcf8d945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d27c50dbf4aac" /><Relationship Type="http://schemas.openxmlformats.org/officeDocument/2006/relationships/notesSlide" Target="/ppt/notesSlides/notesSlide8.xml" Id="R08f76128e6d44c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b0c55e51f4594" /><Relationship Type="http://schemas.openxmlformats.org/officeDocument/2006/relationships/notesSlide" Target="/ppt/notesSlides/notesSlide9.xml" Id="R2e9ebf940b4340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e83e4a7f23457a" /><Relationship Type="http://schemas.openxmlformats.org/officeDocument/2006/relationships/image" Target="/ppt/media/image.png" Id="R9462d3830d574a03" /><Relationship Type="http://schemas.openxmlformats.org/officeDocument/2006/relationships/notesSlide" Target="/ppt/notesSlides/notesSlide10.xml" Id="Race3ae6225f549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964803424c476a" /><Relationship Type="http://schemas.openxmlformats.org/officeDocument/2006/relationships/image" Target="/ppt/media/image2.png" Id="R56fd5e1a0454439d" /><Relationship Type="http://schemas.openxmlformats.org/officeDocument/2006/relationships/notesSlide" Target="/ppt/notesSlides/notesSlide11.xml" Id="R8547d032e5c642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8ff782b2d04793" /><Relationship Type="http://schemas.openxmlformats.org/officeDocument/2006/relationships/image" Target="/ppt/media/image3.png" Id="R53bfe695058744cd" /><Relationship Type="http://schemas.openxmlformats.org/officeDocument/2006/relationships/notesSlide" Target="/ppt/notesSlides/notesSlide12.xml" Id="R2a93a8730d7146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38891db45a4810" /><Relationship Type="http://schemas.openxmlformats.org/officeDocument/2006/relationships/notesSlide" Target="/ppt/notesSlides/notesSlide13.xml" Id="R61828c81e3a247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edd7be438d4879" /><Relationship Type="http://schemas.openxmlformats.org/officeDocument/2006/relationships/notesSlide" Target="/ppt/notesSlides/notesSlide14.xml" Id="R46b62e6281e241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686136-F331-4537-9355-4C2CCF7C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5B428-2E39-4929-A01A-BCA4B9A1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021DE-2BF7-428D-9DD7-5974FDA1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485BB-6CF2-4B59-B3B2-E4FE4DAA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22247-AE49-49F2-93F5-6412BA08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kicker-capstone package-marker">
            <a:extLst xmlns:a="http://schemas.openxmlformats.org/drawingml/2006/main">
              <a:ext uri="{FF2B5EF4-FFF2-40B4-BE49-F238E27FC236}">
                <a16:creationId xmlns:a16="http://schemas.microsoft.com/office/drawing/2014/main" id="{BFCD7F3A-2FC1-484E-943D-B5F6C71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capstone package-label">
            <a:extLst xmlns:a="http://schemas.openxmlformats.org/drawingml/2006/main">
              <a:ext uri="{FF2B5EF4-FFF2-40B4-BE49-F238E27FC236}">
                <a16:creationId xmlns:a16="http://schemas.microsoft.com/office/drawing/2014/main" id="{FF956AA0-B4ED-4BC9-A8CE-F1D7E9A0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CAPSTONE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09123-2EFF-400B-864B-4766E748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57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PJ Channel Customer Value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199DB-B5B0-45EA-8306-47EB2C80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Data Technology Capstone | Public / School-Safe Version | May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E2427-F105-4BFA-8C36-F787EA8E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81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A privacy-safe analysis of which acquisition/source channels appear to bring higher-value Permanent Jewelry customers.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065FC-0AC6-4B5C-A48E-EEBAAFFC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2950"/>
            <a:ext cx="37147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B2BE1-41F3-4199-B06F-B9E07673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287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Headline Channel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7C1B0-820E-48EF-A5ED-C044D953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9718C-223B-49B2-A3E0-C4303A40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5FD09-6657-4F47-9C87-3635DED9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Direct / Owned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CCB88-6927-4448-AA7C-0AEDF787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04975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4A6FA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A6FA5"/>
                </a:solidFill>
                <a:latin typeface="Aptos Display"/>
                <a:ea typeface="Aptos Display"/>
                <a:cs typeface="Aptos Display"/>
              </a:rPr>
              <a:t>139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C0098-B007-4E98-B3FE-2A25963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57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$1,101.06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5C99C-A0F4-4E7E-8977-4AF227F8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30.0% 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94FD2-2031-4EE6-8EDA-888DEFDA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7589C-D6ED-4E43-A36D-9031E760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F2261-92AA-49F4-8E83-19D57A3A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146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Paid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DB9B4-7E46-472D-9E24-6A755FE6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05125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87C7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87C73"/>
                </a:solidFill>
                <a:latin typeface="Aptos Display"/>
                <a:ea typeface="Aptos Display"/>
                <a:cs typeface="Aptos Display"/>
              </a:rPr>
              <a:t>89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4A3B9-743D-4D3C-BBC3-7A0FF3D8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575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$1,455.22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9FED5-394F-4EDD-A703-CB368453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42.7% repeat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2A14D4-256C-4D96-9BE2-4B5E68C0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E0C10-00C9-4CEA-AE0D-E7FDA502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A17F8-FB47-4B07-8616-1E492BA7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114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Organic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6A19BE-F92C-4EC4-BA17-0D6496F6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05275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rPr>
              <a:t>70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81421A-499B-464E-9BB4-1615EAC2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577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$1,338.89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5EDC0-FD95-4FA7-9F5E-09A6E295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37.1% repeat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929FA1-AD62-452F-ABA7-28910D62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17E9D-F9A0-4690-B44C-F129FF11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9C5051-55F2-481F-ABF7-9B246297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44D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44D3F"/>
                </a:solidFill>
                <a:latin typeface="Aptos Display"/>
                <a:ea typeface="Aptos Display"/>
                <a:cs typeface="Aptos Display"/>
              </a:rPr>
              <a:t>9,021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235DED-B04F-4EAF-A2FE-575FB894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customer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A460AF-58CC-474A-95B2-845FC3E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Local-only; not public.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298464-88AF-469F-853D-29F40316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577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E14395-A9F6-410B-8DBA-C386B32C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577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242543-FBA1-4A09-8E73-58BBE6B9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910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722C46-32AE-40C5-84F7-11C2883F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911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eligibility rows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98EC02-278F-481E-A1B9-00FDA9E8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9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Aggregate summary rows.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936EBA-8070-4AB7-968B-C25BEFCA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97A7A2-8588-4CC5-8C1E-E6B18EB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C614D8-A882-4B06-9B0C-58156FC7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91050"/>
            <a:ext cx="1485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7C7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7C73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7F160C-E828-416C-AF67-ADF5B777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911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headline channels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3A65D0-13D1-43B7-BBE4-61061F4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19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Final eligible channels.</a:t>
            </a:r>
          </a:p>
        </p:txBody>
      </p:sp>
    </p:spTree>
    <p:extLst>
      <p:ext uri="{BB962C8B-B14F-4D97-AF65-F5344CB8AC3E}">
        <p14:creationId xmlns:p14="http://schemas.microsoft.com/office/powerpoint/2010/main" val="7176266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8A378-DAED-4377-89FF-474E824F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7F7CE-CC97-4C0F-84E0-3622B465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4CE0A-0D5E-49FD-AB37-B7036D2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E614D-8C03-4E94-9C59-9B8F150A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D0A1D-BEE5-4E30-BA19-A621CB20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kicker-objective-marker">
            <a:extLst xmlns:a="http://schemas.openxmlformats.org/drawingml/2006/main">
              <a:ext uri="{FF2B5EF4-FFF2-40B4-BE49-F238E27FC236}">
                <a16:creationId xmlns:a16="http://schemas.microsoft.com/office/drawing/2014/main" id="{8312E64A-7C3B-4BD8-B5A5-8766EB2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objective-label">
            <a:extLst xmlns:a="http://schemas.openxmlformats.org/drawingml/2006/main">
              <a:ext uri="{FF2B5EF4-FFF2-40B4-BE49-F238E27FC236}">
                <a16:creationId xmlns:a16="http://schemas.microsoft.com/office/drawing/2014/main" id="{0B85899F-047F-48E4-B589-9F9AFED8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86D68-1CC2-45E2-8F1F-65A27EF6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The project asks which channels bring higher-value PJ customers.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4010F-0746-448E-9F9D-847F25D5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439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44BC3-1F05-4563-912A-5EA26C23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76425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Which acquisition/source channels appear to bring higher-value Permanent Jewelry customers when measured by 12-month revenue, repeat behavior, and follow-on consumables activity?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FE66B-E08D-4C3B-9E99-1B93A7B7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234EA-31E9-4A03-8EFF-79976E1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2AAE4-63F1-465C-A968-622C2095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7C7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7C73"/>
                </a:solidFill>
                <a:latin typeface="Aptos Display"/>
                <a:ea typeface="Aptos Display"/>
                <a:cs typeface="Aptos Display"/>
              </a:rPr>
              <a:t>12M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27D84-B730-4C4B-8AD7-9242DBE1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customer revenue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A0672-77B0-4551-9154-8636A0F5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Captures value after acquisition instead of first order only.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B7E1C-2EAD-4951-A8C9-D6C8494B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D4FD3-C9BF-4514-A0FC-0E4A14D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CE764-DAC3-496B-953E-ACEA450A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rPr>
              <a:t>Repeat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D8410-8BE0-457F-A572-156F31E7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purchase behavior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1B4CF-E377-4442-8C91-66A42A59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195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Shows whether customers continue buying after the first transaction.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62247-EFBF-4BA4-BB4B-9D6DDE9F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0C7AE-8820-40A5-AAB5-7707C2FE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DEC58-F585-4915-B355-28ED23ED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44D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44D3F"/>
                </a:solidFill>
                <a:latin typeface="Aptos Display"/>
                <a:ea typeface="Aptos Display"/>
                <a:cs typeface="Aptos Display"/>
              </a:rPr>
              <a:t>Follow-on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83CAD-8F06-45D2-B795-4FC1C301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consumables activity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10393-55BD-4AD4-910A-A4D6F5E6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955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Signals downstream product engagement after PJ purchase.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E6718-EEB3-4480-B021-CF6A69CE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A17A1-F005-4196-BBB4-3451D13D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1EDFFE-E875-4547-9C9A-7A8B765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435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Acquisition volume alone can hide weak long-term customer value.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819C7-F748-4EFD-AF7A-9264708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9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E748CE-0B15-4EAA-9812-E37DFCFE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245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Channel recommendations need clean source eligibility rules.</a:t>
            </a:r>
          </a:p>
        </p:txBody>
      </p:sp>
    </p:spTree>
    <p:extLst>
      <p:ext uri="{BB962C8B-B14F-4D97-AF65-F5344CB8AC3E}">
        <p14:creationId xmlns:p14="http://schemas.microsoft.com/office/powerpoint/2010/main" val="11683645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BE8B3-9698-4F50-ADD7-04F927C7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D91E4-95D1-4038-8251-0162FDA6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0927A-D13D-462E-A488-07F9058B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13AD6-E856-4BCA-A91C-A04DE47E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08085-FF97-4522-BB66-6A0F1F9B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kicker-business context-marker">
            <a:extLst xmlns:a="http://schemas.openxmlformats.org/drawingml/2006/main">
              <a:ext uri="{FF2B5EF4-FFF2-40B4-BE49-F238E27FC236}">
                <a16:creationId xmlns:a16="http://schemas.microsoft.com/office/drawing/2014/main" id="{AB956092-C608-4265-AC4E-4D412E9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business context-label">
            <a:extLst xmlns:a="http://schemas.openxmlformats.org/drawingml/2006/main">
              <a:ext uri="{FF2B5EF4-FFF2-40B4-BE49-F238E27FC236}">
                <a16:creationId xmlns:a16="http://schemas.microsoft.com/office/drawing/2014/main" id="{0AB952F0-568A-4467-8F0C-862A29C5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BUSINESS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7BD37-344A-4E41-8D43-FFAF96FA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71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Strong first-order channels do not always become strong value channels.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EFC5B-6C66-4272-B172-6934DB9E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The capstone compares acquisition sources using a downstream customer value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33115-6278-4AF7-8C6D-2EF303C2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96E25-AE0A-42D1-A8AB-BAE01DE4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B2A04-0CBF-4969-A9E3-42702E1C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BB026-466D-48BE-82F0-FEADFC9A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First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0A55C-42D9-47B4-9107-DEE8BAD6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Initial acquisition signal from Shopify order activity.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428B1-4152-427B-8AA7-7B38152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C92B5-47F0-412D-96C1-DC50AC7A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B5EBA-C81A-43C1-882A-3F3C268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67754-A3C8-42F6-8C58-2A0D1425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12-month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16E17-5E68-495D-905E-59ADBBDF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7180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Customer revenue accumulated inside the value window.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1ED17-CA61-499F-9CCC-CE3FC274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4DBC8-7A10-4886-9C2D-A83DB761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F3F67-514D-4302-96CD-88C3970A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51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3C94D-DAFF-4ADA-A1C3-06EC4ABD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Repeat behavior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B18BF-A86C-443D-B72E-E90F2FE5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Whether the customer comes back after acquisition.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8170A-6D3F-4BE0-A6CB-7A77B72B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B384A-2B49-409A-8B7B-85B9D8BE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E15704-C36A-4D49-9D3C-E1FF04C4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3B5AB3-9D06-4236-9550-04F9AF18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Consumables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291134-04E9-4E40-939A-2755857D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71800"/>
            <a:ext cx="1562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Follow-on behavior tied to downstream PJ needs.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3AB45-AC47-4425-ADC1-102892E1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480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960DB-C160-4EC9-A263-780CC531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908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CB2BD6-E183-4466-ADE2-B87D636D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480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BD262F-FDF0-413F-B09E-F64B62C8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908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43FF79-8C2D-44B4-B901-908EF94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E08537-89C0-47A3-8037-DE30F844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2F6F35-B5BB-495B-9C94-6B676E00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86300"/>
            <a:ext cx="8877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7E3"/>
          </a:solidFill>
          <a:ln xmlns:a="http://schemas.openxmlformats.org/drawingml/2006/main" w="9525">
            <a:solidFill>
              <a:srgbClr val="187C7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8373B6-412C-4FA5-B882-835A6F5E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Goal: compare channels using value and retention, not just sessions or first-order volume.</a:t>
            </a:r>
          </a:p>
        </p:txBody>
      </p:sp>
    </p:spTree>
    <p:extLst>
      <p:ext uri="{BB962C8B-B14F-4D97-AF65-F5344CB8AC3E}">
        <p14:creationId xmlns:p14="http://schemas.microsoft.com/office/powerpoint/2010/main" val="4750811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47E2F1-91EE-43BA-B6B8-E8B9D49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53904-6CCA-4B3F-BFD0-5486BF0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B651A-79DC-4015-9131-A2403CDD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0A0A6-AB77-48B3-9230-F328D7BB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AE16B-CA73-43B8-A187-90C89B2C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kicker-data sources-marker">
            <a:extLst xmlns:a="http://schemas.openxmlformats.org/drawingml/2006/main">
              <a:ext uri="{FF2B5EF4-FFF2-40B4-BE49-F238E27FC236}">
                <a16:creationId xmlns:a16="http://schemas.microsoft.com/office/drawing/2014/main" id="{44826500-922A-4763-B21A-E9CB909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data sources-label">
            <a:extLst xmlns:a="http://schemas.openxmlformats.org/drawingml/2006/main">
              <a:ext uri="{FF2B5EF4-FFF2-40B4-BE49-F238E27FC236}">
                <a16:creationId xmlns:a16="http://schemas.microsoft.com/office/drawing/2014/main" id="{AEABE3EF-1E0A-4211-9A0F-130019F4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06F2A-04EB-4AA7-BE63-42AA029A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Each platform had a specific role in the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B4C59-4D89-487C-9B6D-0F0D1BE9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Raw exports stayed private. Public outputs use aggregate summaries and methodology documentation.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1C160-A7AC-4C7E-BFAF-FFFC909F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019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CC64F-A281-4187-8797-EC44E2E5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105FE-4B5D-4ACA-A595-130004FE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Shopify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055A0-D3A8-43E0-B694-2260E34B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Customers, orders, order lines, and products. Used locally to build customer value windows and product behavior measures.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351A9-AE3F-4743-93BB-319C9A61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2019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87FF6-B398-4E12-92A6-11C7DA22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0980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A177C-819A-4AFD-933B-4790DA7E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HubSpot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48727-BA89-436E-8F61-E9F3CC51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Main customer-source bridge because Shopify email matching was very strong.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1866E-2EDC-489F-91A1-FAA80FB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2019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694446-4F9C-4BA8-B4E0-DB54E0C9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93534-8527-4D21-83DE-12919BAD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1935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Salesforce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7B900-8D93-4ABA-B933-7D52069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9560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Supporting validation and enrichment for CRM context, Shop URL validation, and directional PJ order/revenue checks.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CD92C-C0D3-48B8-94E8-C73FF7F0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2019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EE4C3-7E61-46B9-8861-8DD08CA5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4D995-7AC1-41D9-A143-56AE966C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1935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GA4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970FC-863C-49AB-91CD-A856A7CB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9560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Marketing-platform validation only. Exports can overlap and are not treated as deduplicated totals.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8DE1A0-FD0E-4B60-98F2-8B05FFEE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019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1126E-FC42-400A-9D95-8115FB53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019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C750E-A88F-47D0-8992-16A64A9E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1714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Tableau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EE846-53C6-40D9-8229-B05A6D5A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560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Aggregate-safe visualization layer using packaged CSV exports only.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4CEE27-906D-46C4-BEC9-278DC5F5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EF4DE-E1E4-4605-9C65-C9649F4B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24475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raw customer/contact/order data is included in this public-facing package.</a:t>
            </a:r>
          </a:p>
        </p:txBody>
      </p:sp>
    </p:spTree>
    <p:extLst>
      <p:ext uri="{BB962C8B-B14F-4D97-AF65-F5344CB8AC3E}">
        <p14:creationId xmlns:p14="http://schemas.microsoft.com/office/powerpoint/2010/main" val="10198243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C72212-E2E1-4EB4-9B17-A762625A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1E0B0-68B3-443A-A4B8-034F06FA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1EBFA-EC44-48EC-A0C8-5096C42D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8036A-BC9C-430C-A27A-D1106DEB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8321C-A018-4564-8C43-33E6A547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kicker-privacy-marker">
            <a:extLst xmlns:a="http://schemas.openxmlformats.org/drawingml/2006/main">
              <a:ext uri="{FF2B5EF4-FFF2-40B4-BE49-F238E27FC236}">
                <a16:creationId xmlns:a16="http://schemas.microsoft.com/office/drawing/2014/main" id="{69E7DAE5-B5DA-407B-A3FA-402D940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privacy-label">
            <a:extLst xmlns:a="http://schemas.openxmlformats.org/drawingml/2006/main">
              <a:ext uri="{FF2B5EF4-FFF2-40B4-BE49-F238E27FC236}">
                <a16:creationId xmlns:a16="http://schemas.microsoft.com/office/drawing/2014/main" id="{948A8889-4EF6-4587-AFC4-CD0F7FBE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9ABE2-2907-43C8-B139-FD3A883F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The final package is aggregate-only and public safe.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FD9DF-BF05-412B-B3E7-1FC179F7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D6"/>
          </a:solidFill>
          <a:ln xmlns:a="http://schemas.openxmlformats.org/drawingml/2006/main" w="9525">
            <a:solidFill>
              <a:srgbClr val="537B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B134D-A3A6-4D15-B602-B8E762B9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Included in public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48540-4E8D-463A-B7D1-FC72B0E3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44C6B-C465-4765-AE22-0C0A40EA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193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Aggregate channel KPI tables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9F44C-96DC-4729-9C60-86E07FF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88EAD-7800-455C-947F-8F25BA15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384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Safe Tableau aggregate CSVs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065E4-B6E4-456F-9A12-383147D2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A1E6C-81F7-47F0-BF70-7184A659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575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Methodology and reviewer documentation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E55C8-5284-4862-8EB9-AFB25A4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C7668-D814-4AC2-A410-B9A55915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Sanitized screenshots only if reviewed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82DD6-2B9C-49F8-BC53-2F7DFCF9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CFC9"/>
          </a:solidFill>
          <a:ln xmlns:a="http://schemas.openxmlformats.org/drawingml/2006/main" w="9525">
            <a:solidFill>
              <a:srgbClr val="C44D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1FFD0-9E85-49BE-B59E-6E3F9002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Excluded from public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4ABFA-43F7-42E8-ADAD-6006FFB6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3A485-12A3-4ECF-B47C-7F66D3B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193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Raw Shopify, HubSpot, Salesforce, and GA4 exports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19CA2-30C4-48E3-8026-2EE42F45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7DF10-F50C-4394-8D68-253222DB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Customer-level processed datasets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2B1A6-7112-4986-8948-D2FBE367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52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803C4-34A8-4FA3-9BD2-45E1A2C0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Names, emails, phones, addresses, order 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0EFBF-DBD3-4A6E-98D1-31B0911E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CEBD31-BBF9-4302-B8B0-EAD0AC27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766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Internal-only screenshots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F20D2D-4C5F-4C88-BD4E-03FE5C20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AE48F-003D-4251-B422-2C4DB8C2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92E0F-A084-4ADF-9EBD-156E5C8B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9110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44D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44D3F"/>
                </a:solidFill>
                <a:latin typeface="Aptos Display"/>
                <a:ea typeface="Aptos Display"/>
                <a:cs typeface="Aptos Display"/>
              </a:rPr>
              <a:t>9,021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58F1A6-6FBA-4BA6-B7B5-319CD57A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911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local customer-level rows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A6C512-83FF-47B8-93D9-C6FD681E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197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Local analysis file only.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F3D878-30AD-4EF8-9CE0-E70D9C90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082EE-0D72-41F4-946A-5C95A71F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903444-5249-42A7-9BFD-DB1DD006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rPr>
              <a:t>&lt;5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8317F1-0065-4718-81DA-6FE68222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911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small-cell threshold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022828-D2E6-40E1-AD3D-FCA048E8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197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Monthly value/rate suppression.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D262E9-D4BD-4916-8D82-1CCF5819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D34543-35F7-41E7-B537-1A5DD3E0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1ADF6B-3350-4441-B1D3-494ED8FB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9110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537B46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537B46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80AB86-77FA-4FB3-8B20-2E4FB9BA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911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raw rows in deliverables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B8A44B-A9F4-43C6-9B9A-82D7D126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6197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Aggregate outputs only.</a:t>
            </a:r>
          </a:p>
        </p:txBody>
      </p:sp>
    </p:spTree>
    <p:extLst>
      <p:ext uri="{BB962C8B-B14F-4D97-AF65-F5344CB8AC3E}">
        <p14:creationId xmlns:p14="http://schemas.microsoft.com/office/powerpoint/2010/main" val="10099786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DDAE3A-34BF-4245-8074-021B9B3E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2DEB6-771C-4A18-9C0C-D67A77AB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54701-7ED6-476F-A8B4-B3A3DA12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E913C-ACF8-4EB5-8CBD-93503B17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DB06C-7260-4379-BA3E-AA9AEA54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kicker-preparation-marker">
            <a:extLst xmlns:a="http://schemas.openxmlformats.org/drawingml/2006/main">
              <a:ext uri="{FF2B5EF4-FFF2-40B4-BE49-F238E27FC236}">
                <a16:creationId xmlns:a16="http://schemas.microsoft.com/office/drawing/2014/main" id="{C8967044-93A5-4118-B06B-1BD87072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preparation-label">
            <a:extLst xmlns:a="http://schemas.openxmlformats.org/drawingml/2006/main">
              <a:ext uri="{FF2B5EF4-FFF2-40B4-BE49-F238E27FC236}">
                <a16:creationId xmlns:a16="http://schemas.microsoft.com/office/drawing/2014/main" id="{F59CADC2-E22E-4453-9B24-3D9AD61B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PREPARATION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7AE34-E2FB-4F0D-88E0-AB869429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Customer value was built through a controlled matching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758EE-8D86-400A-86B9-863F09B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The workflow joins local customer/order behavior to source context, then reports aggregate results.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D2DF6-A707-4FAF-B4D7-9A1559C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01962-FD6F-486F-AE38-B08AB69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AB770-77F8-49AD-9A45-BE65096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C20F9-0467-496F-B488-2ABF8194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050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Validate Shopify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E841E-A905-4C19-BEAA-47930D3E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289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Confirm customer, order, and order-line structure before value calculations.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025FE-0184-4A60-8F3A-CBD8AF42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336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F0C37-AD03-4B0E-A177-14423A7C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05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09E7A-0D36-4280-AD38-7ADA5F11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622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0F09E-3FA2-4BC0-BEF0-7D3E65B9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050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Normalize matching fields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F0C65-0A17-4105-A6AA-FAD0FC82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289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Normalize email to match Shopify customers to HubSpot contact/source context.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1DB2A-5E64-45A5-9769-FA6909A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88F58-B2A2-4EF6-85BE-BAE87A61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05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79299-CD9A-462D-A051-9FD6E31C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FC8CA-98DB-48DA-ABCC-E2044AA0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050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Map source labels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61B63-3A12-48AE-806A-65EDAA14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289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Translate CRM source values into usable derived channel groups.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75AF0-1A9D-4D11-9005-856416AF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0B9B2-0ADB-40A1-98E4-EF9C5143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37A7F5-45E8-4C11-BE6E-B84903F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C77F71-86D1-4090-99B9-6054004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767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Classify products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9B978-696C-458A-A247-1C415058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Identify product behavior needed for follow-on consumables metrics.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619E0-1AD4-4714-98A9-D6A96D41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E3E843-F5B8-41BA-BAEE-4A45C6CD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76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048C70-3DFC-43CC-A431-F94E1E1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338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D33E57-9371-437C-A7AB-3A8D5710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0767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Build value windows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F20A4-FA60-4F21-AABC-413E6213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4005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Calculate first-order, 30/60/90-day, and 12-month customer value measures.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33E721-0A3D-43EC-89B3-6AAF84D2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277CF-F3D3-47BB-BD81-12960E34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767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988773-208C-46FB-AD7A-2C0541A5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DA8BBD-82F9-46DE-B674-CD3A132A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7670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Aggregate safely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63B2A7-AEC9-4FE6-8F82-94AB4883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Export channel-level EDA and Tableau tables without customer-level rows.</a:t>
            </a:r>
          </a:p>
        </p:txBody>
      </p:sp>
    </p:spTree>
    <p:extLst>
      <p:ext uri="{BB962C8B-B14F-4D97-AF65-F5344CB8AC3E}">
        <p14:creationId xmlns:p14="http://schemas.microsoft.com/office/powerpoint/2010/main" val="20820300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35C9D-ED38-4FFB-986D-62EEC771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C463A-FB10-4258-8B4B-508DB0AE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00E99-5997-4CDB-A975-7DC2FC5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19C09-3005-4796-A0A3-93F4793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0099A-3D04-415F-B370-2D67B217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kicker-validation-marker">
            <a:extLst xmlns:a="http://schemas.openxmlformats.org/drawingml/2006/main">
              <a:ext uri="{FF2B5EF4-FFF2-40B4-BE49-F238E27FC236}">
                <a16:creationId xmlns:a16="http://schemas.microsoft.com/office/drawing/2014/main" id="{BB84A950-4DE3-4061-9EFA-61EA046D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validation-label">
            <a:extLst xmlns:a="http://schemas.openxmlformats.org/drawingml/2006/main">
              <a:ext uri="{FF2B5EF4-FFF2-40B4-BE49-F238E27FC236}">
                <a16:creationId xmlns:a16="http://schemas.microsoft.com/office/drawing/2014/main" id="{AA45A9BD-6CD2-4CA5-A10C-3867CFB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B9C2C-96A4-481F-88C0-57F8064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HubSpot carried source mapping; Salesforce and GA4 validated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5E79E-2037-4880-A4E8-2B80261C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0289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A24A7-39D6-418F-996B-988B6374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6CC4D-FC0C-4E7B-9990-83EC0E88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HubSpot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38C60-68E9-4804-B15F-0F2D2CE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87C7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7C73"/>
                </a:solidFill>
                <a:latin typeface="Aptos"/>
                <a:ea typeface="Aptos"/>
                <a:cs typeface="Aptos"/>
              </a:rPr>
              <a:t>Primary source 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5BCB7-EAC1-4D2C-90DE-716E35D5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94176-CFF6-4F7F-85A1-72F0C46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High Shopify email match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22FFB-C9B4-48E5-A57A-EF24F5AD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DBDFE-6DA4-4CD7-B71C-0FA2E249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Customer-source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A21B9-10C4-4470-9D06-280ACB49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39629-8AF2-4F5B-B235-69E46A71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Derived channel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F086D-7371-488D-9C49-565B6DD3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30289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ABEC0-46AE-4237-AC79-A5302CE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A4B37-0E75-4547-93C7-120BB913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Salesforce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3AA300-3C37-4AFA-84C9-57FEAFD3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38A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8A33"/>
                </a:solidFill>
                <a:latin typeface="Aptos"/>
                <a:ea typeface="Aptos"/>
                <a:cs typeface="Aptos"/>
              </a:rPr>
              <a:t>Supporting CRM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6D390-82E7-4093-8484-EB967299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8523F6-023B-42F4-978A-47B0E2C3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CRM context enrichment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CC40D-1F95-45A2-9700-FA3BDCC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6829E-AC5B-4FCA-AD06-09772621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Shop URL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49E213-AB04-47FD-8191-FD2D4203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5BB81C-906B-4D22-B084-B855A2B6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576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Directional PJ order/revenue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10470-2C4A-4403-A8A4-138DB69D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0289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0BDF0-C0F6-404C-B4D6-370F2CE2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A8823C-28CD-4024-8A9F-0B5D565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GA4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C9B8B-C76D-4F65-8C2B-9F5C8D3C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44D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44D3F"/>
                </a:solidFill>
                <a:latin typeface="Aptos"/>
                <a:ea typeface="Aptos"/>
                <a:cs typeface="Aptos"/>
              </a:rPr>
              <a:t>Marketing validation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13FB6D-A3E6-4DCD-A695-E7F815DA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D6E34C-1112-49F0-AE60-DC3861A2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Aggregate channel support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17CDDD-0587-432C-A116-666322D8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9E5A85-4EE7-45CC-A596-BF42E064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Overlap caveat documented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807EA0-46B9-4ADC-BE95-7C749D88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52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E1FDE8-F2F9-4B2D-BD38-B6A7C8D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Not deduplicated customer value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7DF7BE-0F9A-48C7-B437-49E5304E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29250"/>
            <a:ext cx="7391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C0"/>
          </a:solidFill>
          <a:ln xmlns:a="http://schemas.openxmlformats.org/drawingml/2006/main" w="9525">
            <a:solidFill>
              <a:srgbClr val="C38A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E76C85-082C-4D46-AC57-4A7ED88F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24500"/>
            <a:ext cx="6972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Salesforce Shop URL validation identified https://sunstonepj.myshopify.com as the PJ Shopify store.</a:t>
            </a:r>
          </a:p>
        </p:txBody>
      </p:sp>
    </p:spTree>
    <p:extLst>
      <p:ext uri="{BB962C8B-B14F-4D97-AF65-F5344CB8AC3E}">
        <p14:creationId xmlns:p14="http://schemas.microsoft.com/office/powerpoint/2010/main" val="20423266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319C29-FFE6-4CA1-A5B1-A4088F27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0C21C-C71F-4591-8D24-BC5375AF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A3D14-C94C-4B06-995E-95EDDC82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DC59C-8755-4B98-A3F4-CD38AF1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output/tables/channel_eligibility_summary.csv.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25155-AD5A-4886-8381-45AB7F02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kicker-eligibility-marker">
            <a:extLst xmlns:a="http://schemas.openxmlformats.org/drawingml/2006/main">
              <a:ext uri="{FF2B5EF4-FFF2-40B4-BE49-F238E27FC236}">
                <a16:creationId xmlns:a16="http://schemas.microsoft.com/office/drawing/2014/main" id="{6E5512DF-C4C1-44BC-A6F8-B752ABB2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eligibility-label">
            <a:extLst xmlns:a="http://schemas.openxmlformats.org/drawingml/2006/main">
              <a:ext uri="{FF2B5EF4-FFF2-40B4-BE49-F238E27FC236}">
                <a16:creationId xmlns:a16="http://schemas.microsoft.com/office/drawing/2014/main" id="{D3682AEC-4411-442D-A2ED-33A00A36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ELIGIBILITY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F9EBF-8ADD-465B-B0B0-6B63AC4D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Eligibility rules separated true acquisition channels from noisy source buckets.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2A4CF-40FB-43B5-B706-2B7F3026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F7040-DF09-4F87-B021-53177A1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764EC-4FC3-496E-9732-10F8C24E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811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083A1-8475-49D5-AA7D-78B86069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811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in Recommendation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B0C1F-291C-478F-83D3-24B2B97C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F9CD8-A411-42A7-97BA-21B30624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Headline Eligible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281A1-3967-42A3-A96C-AD244FF3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3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True channel and &gt;=50 customers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8ED17-B0AA-4F5D-B2F9-B509EF4D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Main findings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3D3EE-8A6D-4C0A-9FD2-BD5AFDF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024EC-399D-4A61-8D5D-BA477C94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Directional / Supporting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110EE-FD3D-47D4-9906-EDDD376C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Small sample, imported/list, support, or context-only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A493F-9301-48F9-AB76-56983F75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Supporting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5A356-41C5-4DC2-937F-A828844A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C2BE03-554C-49B4-A48D-77EF41E9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Excluded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39BBF-DBBC-4117-8501-37557DFC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48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System, sync, technical, integration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82C65-C053-41FF-A80F-FC59B57B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Not used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256CD-A7F7-4A8E-8C98-C86E8A2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7B751-7FC5-4FB4-B7A6-6E5070F5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Needs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6FB475-FF5F-47E7-8D85-9BDCBCC3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00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Missing, unassigned, GA4-only, or unclear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0F593-8777-4376-8B1B-5DF4A427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Future mapping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10825-3BB3-4724-AA0F-3333B3F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Final headline-eligible channels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0EEB0D-5E0A-43E2-9920-F860E776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>
              <a:alpha val="13333"/>
            </a:srgbClr>
          </a:solidFill>
          <a:ln xmlns:a="http://schemas.openxmlformats.org/drawingml/2006/main" w="9525">
            <a:solidFill>
              <a:srgbClr val="4A6F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742E09-20FA-4F12-8DF5-8D01170D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A6FA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A6FA5"/>
                </a:solidFill>
                <a:latin typeface="Aptos"/>
                <a:ea typeface="Aptos"/>
                <a:cs typeface="Aptos"/>
              </a:rPr>
              <a:t>Direct / Owned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114B82-E1C5-4431-999A-81019A3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720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>
              <a:alpha val="13333"/>
            </a:srgbClr>
          </a:solidFill>
          <a:ln xmlns:a="http://schemas.openxmlformats.org/drawingml/2006/main" w="9525">
            <a:solidFill>
              <a:srgbClr val="187C7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BE3D9D-6191-4F06-8C54-DA2EA7B6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196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87C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7C73"/>
                </a:solidFill>
                <a:latin typeface="Aptos"/>
                <a:ea typeface="Aptos"/>
                <a:cs typeface="Aptos"/>
              </a:rPr>
              <a:t>Paid Search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B75537-9AF4-4066-B123-443A84EA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72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>
              <a:alpha val="13333"/>
            </a:srgbClr>
          </a:solidFill>
          <a:ln xmlns:a="http://schemas.openxmlformats.org/drawingml/2006/main" w="9525">
            <a:solidFill>
              <a:srgbClr val="C38A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895914-6DF6-47E6-8514-A52C2053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96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38A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38A33"/>
                </a:solidFill>
                <a:latin typeface="Aptos"/>
                <a:ea typeface="Aptos"/>
                <a:cs typeface="Aptos"/>
              </a:rPr>
              <a:t>Organic Search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EFE87E-0A83-4B04-9DC5-9C02DA8A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52950"/>
            <a:ext cx="342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3D92AC-1E1F-4190-91E4-31C92FC7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43450"/>
            <a:ext cx="297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Cross-network and Organic Shopping were visible in GA4 but not cleanly mapped to customer-level channel groups.</a:t>
            </a:r>
          </a:p>
        </p:txBody>
      </p:sp>
    </p:spTree>
    <p:extLst>
      <p:ext uri="{BB962C8B-B14F-4D97-AF65-F5344CB8AC3E}">
        <p14:creationId xmlns:p14="http://schemas.microsoft.com/office/powerpoint/2010/main" val="3264489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BBEEC9-2905-4E5C-87C0-674FC1AB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1AEBB-DBF9-4D71-AC89-EEFB4013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10E6B-10A0-40DD-8BE5-D00ECEA7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925D1-4922-47C5-91A1-37D6F6F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tableau_exports/tableau_headline_channel_kpis.csv.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27B17-924E-45D4-89D1-A64D3077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kicker-headline kpis-marker">
            <a:extLst xmlns:a="http://schemas.openxmlformats.org/drawingml/2006/main">
              <a:ext uri="{FF2B5EF4-FFF2-40B4-BE49-F238E27FC236}">
                <a16:creationId xmlns:a16="http://schemas.microsoft.com/office/drawing/2014/main" id="{5B72EF80-6312-4FC1-9F0C-E8A90500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headline kpis-label">
            <a:extLst xmlns:a="http://schemas.openxmlformats.org/drawingml/2006/main">
              <a:ext uri="{FF2B5EF4-FFF2-40B4-BE49-F238E27FC236}">
                <a16:creationId xmlns:a16="http://schemas.microsoft.com/office/drawing/2014/main" id="{1E9A9210-7F61-4EA0-986A-694012D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HEADLINE KPIS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DF5FA-DB44-4619-9A6A-A8B94F44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Paid Search leads revenue and repeat; Organic leads follow-on consumables.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10CC0-1699-44B6-8426-15D959C1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56898-A1D6-43EE-960B-CB4893D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886D7-6018-4385-876F-CAB199B1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383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4BC19-9A89-43BA-A366-293A04B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383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Avg 12M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491AA-6F93-4F5D-9C3B-458B62B7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383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Repeat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73D25-8B53-4FFB-A448-7174E24D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383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Follow-On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C07CC-27FB-499F-9987-FFC1A9E1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EBBE4-6F86-4A47-A98C-5115B34D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Direct / Owned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612B9-364F-4530-9703-EF063697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139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C1C0C-579F-4F7C-A5FE-890ABA8F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$1,101.06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F5032-6997-4FF1-85FC-B5A4C9A0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C6BF1-D1BE-467B-9C2B-2F21FFC2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2C960-8807-4CDE-9BAA-04FD89B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BC253-FAC9-4008-84EB-89F8AADF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Paid 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9A450-2442-46F6-BD5A-E72A81A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67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89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5979C-2CA2-487B-A109-D8A0EBA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67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$1,455.22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557124-74C0-4B3A-A343-47BF8FC1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67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42.70%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A71A3-4076-4F62-8726-9DF207FA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21.35%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435A1-064C-481F-A0E4-38982FD1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20EA0-1094-42D4-933B-1EDD898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Organic 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B8D2F-26AD-4536-B419-7F11B8FA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76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63047-2516-452A-8D09-C8DA7816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$1,338.89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2B89FC-D01B-483B-8290-EBA28AD7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37.14%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49B86-B3A4-47B8-80E1-7AC2F2FB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22.86%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ABCB32-3768-4CE6-B3BC-3055DDB5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22DF39-37C0-4096-BA40-5F78868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15F921-C98D-4B8A-91F8-47FDCB61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7C7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7C73"/>
                </a:solidFill>
                <a:latin typeface="Aptos Display"/>
                <a:ea typeface="Aptos Display"/>
                <a:cs typeface="Aptos Display"/>
              </a:rPr>
              <a:t>$1,455.22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7BA1BF-6CE5-40BE-BC87-7602DD35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Paid Search avg 12M revenue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AD197B-2DFD-4380-87FD-01F4BD82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Highest average 12-month customer revenue.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A8151B-E5F7-47AE-9BB7-CB2765C0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270F55-845C-4E13-AD1E-06B5955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6DCB6-7E8C-41F3-9B22-98A32B7E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339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38A33"/>
                </a:solidFill>
                <a:latin typeface="Aptos Display"/>
                <a:ea typeface="Aptos Display"/>
                <a:cs typeface="Aptos Display"/>
              </a:rPr>
              <a:t>42.70%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964AA8-6E2F-43DF-8BC5-AD9A390E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339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Paid Search repeat rate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63FB73-0EE8-420B-9497-19D81EA6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625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Highest 12-month repeat purchase rate.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850851-A150-4201-AB99-E6ACE490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508753-8CC7-4333-9A29-920E4606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03DDCC-DCF3-4725-B79C-72D5F5A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33900"/>
            <a:ext cx="2533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C44D3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C44D3F"/>
                </a:solidFill>
                <a:latin typeface="Aptos Display"/>
                <a:ea typeface="Aptos Display"/>
                <a:cs typeface="Aptos Display"/>
              </a:rPr>
              <a:t>22.86%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483F8F-3783-48F5-B0D1-34476C0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33950"/>
            <a:ext cx="2533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Organic follow-on rate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795837-46B3-4B17-A7A3-3958E1CE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625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Highest follow-on consumables rate.</a:t>
            </a:r>
          </a:p>
        </p:txBody>
      </p:sp>
    </p:spTree>
    <p:extLst>
      <p:ext uri="{BB962C8B-B14F-4D97-AF65-F5344CB8AC3E}">
        <p14:creationId xmlns:p14="http://schemas.microsoft.com/office/powerpoint/2010/main" val="11169457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E78DF-7732-4A42-82DB-3CA43BB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5DCAE-79A4-49D9-A3CF-344E3CE8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E0D69-CCEA-49F2-AC7E-784AB054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E2F31-63C5-4749-97DA-4D39764E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tableau_exports/tableau_headline_channel_kpis.csv.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F049D-34AB-48DF-BBA1-988786EB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kicker-12-month value-marker">
            <a:extLst xmlns:a="http://schemas.openxmlformats.org/drawingml/2006/main">
              <a:ext uri="{FF2B5EF4-FFF2-40B4-BE49-F238E27FC236}">
                <a16:creationId xmlns:a16="http://schemas.microsoft.com/office/drawing/2014/main" id="{AA6017A3-883F-4A05-95F7-9AD8A3A1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12-month value-label">
            <a:extLst xmlns:a="http://schemas.openxmlformats.org/drawingml/2006/main">
              <a:ext uri="{FF2B5EF4-FFF2-40B4-BE49-F238E27FC236}">
                <a16:creationId xmlns:a16="http://schemas.microsoft.com/office/drawing/2014/main" id="{8CE3B3D7-1EA4-4A7A-97C8-36361E14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12-MONTH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A5730-A272-470E-8EC4-7646AF56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52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Paid Search has the highest average 12-month customer revenue.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68783-C839-4CBD-B761-E150EBB5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50863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30223-719D-4A4C-A7B8-5A897CF4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Average 12M Revenue by Channel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E2C7B-F1A9-4FC8-8849-E7F11DB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Direct / Owned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FF7FA-DC98-46CD-9AE5-EACDFE2D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86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687BD-83CA-4222-8BC1-05DBBB8C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86050"/>
            <a:ext cx="139834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3294B-F401-48F6-97E3-7BFAEA19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860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$1,101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FF5A2-ECBB-477B-AF6F-CC978D41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Paid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5AF89-CD15-4F69-AE2F-34E03A6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8AAC4-ACF4-40A2-8A48-2E4DEC49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84812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317FB-5E18-49A3-A11D-0674C613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$1,455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8A974-7D73-48FA-BF91-8F446C1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Organic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6F5B6-138D-4D26-843B-36E9C445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76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72BFE-3EE7-41EC-B3DF-CDD1D5F6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76650"/>
            <a:ext cx="17003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FA9EE-350C-4763-BC90-38748B39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766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$1,339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D6F96-4A1B-4A70-BD75-1300EFB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Direct / Owned has the largest sample; Paid Search shows the strongest value signal.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30E36-C23E-4E5E-BAE2-69FC48D2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05400"/>
            <a:ext cx="8496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7E3"/>
          </a:solidFill>
          <a:ln xmlns:a="http://schemas.openxmlformats.org/drawingml/2006/main" w="9525">
            <a:solidFill>
              <a:srgbClr val="187C7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C120C-198C-414F-9ADD-050109C7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67325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Interpretation: Paid Search appears strongest on 12-month value, but CAC/profitability data is still needed before scaling recommendations.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D0B42-D619-445E-AC5C-B996AA48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4965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2d3830d574a03"/>
          <a:stretch xmlns:a="http://schemas.openxmlformats.org/drawingml/2006/main"/>
        </p:blipFill>
        <p:spPr>
          <a:xfrm xmlns:a="http://schemas.openxmlformats.org/drawingml/2006/main">
            <a:off x="952500" y="2041890"/>
            <a:ext cx="10096500" cy="21074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574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9CDD0A-4728-4ABF-9567-4CAABD20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7826B-BA57-4E5B-83AB-58F4A00B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C5F6C-A6F3-4AB8-A4B1-FB7FEA5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745D8-5FA9-45E2-8E19-E58DD536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tableau_exports/tableau_headline_channel_kpis.csv.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D65D3-AA5C-47B7-9198-88E738B5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kicker-behavior-marker">
            <a:extLst xmlns:a="http://schemas.openxmlformats.org/drawingml/2006/main">
              <a:ext uri="{FF2B5EF4-FFF2-40B4-BE49-F238E27FC236}">
                <a16:creationId xmlns:a16="http://schemas.microsoft.com/office/drawing/2014/main" id="{49744E10-9682-4A40-A0DB-8717386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behavior-label">
            <a:extLst xmlns:a="http://schemas.openxmlformats.org/drawingml/2006/main">
              <a:ext uri="{FF2B5EF4-FFF2-40B4-BE49-F238E27FC236}">
                <a16:creationId xmlns:a16="http://schemas.microsoft.com/office/drawing/2014/main" id="{40ECE65C-5918-4AEF-BCE3-967B0034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43450-2771-4E40-AA87-A5B40915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Repeat and follow-on metrics point to different channel strengths.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1ABC8-E0E9-4576-BCD5-8374C6E4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51816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B1053-5CBF-456D-9AA5-01CF6182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Repeat Rate vs. Follow-On Consumables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42F04-3EDE-42D6-84B4-58E22DFC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862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28AF3-53CA-4CC8-AE6C-038610A6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E152B-48DD-4BF8-A25C-363AA46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52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Repeat purchase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61796-22D3-441F-8F62-7B2EFF1B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Follow-on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F49E7-FB39-48A9-A874-7680633D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146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F510A-EA50-49F8-874E-4C02201A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710" y="2654999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5A50A-43AA-423B-B28E-16F86EFE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732" y="254569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64F88-558E-4FCF-BCF6-B67FABA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9F136-61F3-4173-A7A0-9FCD068D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Direct / Owned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D2F32-B61A-4F13-AB30-B1AD7A5C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30.0% repeat / 15.0% follow-on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86D2B-856C-4C97-9C72-1F9EB350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2F525-E417-4793-8BD7-1125FEDF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48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Paid 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15FFDF-5824-45BA-B3B2-7D58FD94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42.7% repeat / 21.4% follow-on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99F5B-C17E-4274-8ECF-D925B8A0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7701B-ADAA-47A7-96F0-CFB9DE05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052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Organic 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BA6FC-E0D8-481D-85B4-B855998C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37.1% repeat / 22.9% follow-on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E5920-7E06-454C-AF64-8BA457A9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C0"/>
          </a:solidFill>
          <a:ln xmlns:a="http://schemas.openxmlformats.org/drawingml/2006/main" w="9525">
            <a:solidFill>
              <a:srgbClr val="C38A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7CED79-DD00-429D-86AD-C17D8273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422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Paid Search: highest repeat rate. Organic Search: highest follow-on consumables rate.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1A3D7D-B476-4A4A-ACF5-1396606B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4476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d5e1a0454439d"/>
          <a:stretch xmlns:a="http://schemas.openxmlformats.org/drawingml/2006/main"/>
        </p:blipFill>
        <p:spPr>
          <a:xfrm xmlns:a="http://schemas.openxmlformats.org/drawingml/2006/main">
            <a:off x="7056474" y="1657350"/>
            <a:ext cx="3508302" cy="3181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72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098B3-976A-4DC8-BFFD-858B8FB7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4F300-ACAE-4822-AF15-8D160A7F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D9E10-D38A-424E-B8DE-EC6A0A9D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E7429-CA2A-4E34-8285-CA21DA2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Sources: safe aggregate Tableau exports and EDA chart-planning tables.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C91BF-6B4F-4EAD-AF41-235EB8D7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kicker-dashboard summary-marker">
            <a:extLst xmlns:a="http://schemas.openxmlformats.org/drawingml/2006/main">
              <a:ext uri="{FF2B5EF4-FFF2-40B4-BE49-F238E27FC236}">
                <a16:creationId xmlns:a16="http://schemas.microsoft.com/office/drawing/2014/main" id="{6FD00204-6328-4CB0-8797-AD6866E5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dashboard summary-label">
            <a:extLst xmlns:a="http://schemas.openxmlformats.org/drawingml/2006/main">
              <a:ext uri="{FF2B5EF4-FFF2-40B4-BE49-F238E27FC236}">
                <a16:creationId xmlns:a16="http://schemas.microsoft.com/office/drawing/2014/main" id="{FC258BAA-C4BB-4869-8C1F-917AB4FF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DASHBOARD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01883-5FA3-4CD2-B0C9-2EC4BCC8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The Tableau package summarizes trends, distributions, and eligibility safely.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30C4A-1160-4D5C-88D8-22D6E0CD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32956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4CA74-3C09-463C-B3C8-718CA90D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Visuals 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BF2E6-FD95-4133-9883-8B6B328F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90817-B8E6-4640-860A-8461042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Executive KPI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EE855-E546-4E39-8D34-F6F48775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AF8FA-0544-4010-A7C7-714E0117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194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Avg 12M revenue by channel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96DF2-2062-4490-B1E1-6877AD35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B3184-E885-4392-B4CE-A5BA074E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Repeat vs. follow-on behavior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D392B-E5E1-4AC8-A4D8-F1D20DA7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64895-9ED4-40C0-BDB2-F72874E5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Monthly first-order cohorts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91323-C8C4-4F86-B2A6-6266E33C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FE11A-F6A4-4D2A-8FD3-1F5AADF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95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12M revenue distribution 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62C37-E537-4769-AC26-FBC42578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67B64-5E33-4B89-870E-32FB3675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196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Channel eligibility overview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E885B4-B1C2-4D4F-A10B-DC9EEB30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EC0"/>
          </a:solidFill>
          <a:ln xmlns:a="http://schemas.openxmlformats.org/drawingml/2006/main" w="9525">
            <a:solidFill>
              <a:srgbClr val="C38A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BD088C-528C-479C-B3AA-925BDE28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38725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Monthly value/rate cells under 5 customers are suppressed.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8CB3E-9B9C-47D9-9294-56906742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572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fe695058744cd"/>
          <a:stretch xmlns:a="http://schemas.openxmlformats.org/drawingml/2006/main"/>
        </p:blipFill>
        <p:spPr>
          <a:xfrm xmlns:a="http://schemas.openxmlformats.org/drawingml/2006/main">
            <a:off x="1476375" y="1619250"/>
            <a:ext cx="5105400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368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D7F19D-D9AB-478D-85D9-CF74545C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66342-DBA8-4508-82A6-F9AEE74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39206-60B3-42F2-ACBC-66B58EAF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0A3CF-75F7-4443-8A4D-3AE51A96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F620F-37BE-47B0-BA60-FF293691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kicker-limitations-marker">
            <a:extLst xmlns:a="http://schemas.openxmlformats.org/drawingml/2006/main">
              <a:ext uri="{FF2B5EF4-FFF2-40B4-BE49-F238E27FC236}">
                <a16:creationId xmlns:a16="http://schemas.microsoft.com/office/drawing/2014/main" id="{06365B2E-2CC9-4D4D-898D-B16F01CC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imitations-label">
            <a:extLst xmlns:a="http://schemas.openxmlformats.org/drawingml/2006/main">
              <a:ext uri="{FF2B5EF4-FFF2-40B4-BE49-F238E27FC236}">
                <a16:creationId xmlns:a16="http://schemas.microsoft.com/office/drawing/2014/main" id="{513B8FAE-C1EE-4DCE-94BC-4765732A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AAAA6-FCCC-4E1E-9704-4320924A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90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The findings are directional and depend on source quality.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37AD0-97C2-412D-A39A-65D20F3C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3143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F8F33-02D3-4D80-BED0-65267AEA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D7C75-595F-47AC-8026-DE85F467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Sample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D6743-5824-4508-9CBE-F6839D85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7F549-765D-4575-9967-1414CAAE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2228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Headline-channel samples are modest.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A629A-AC14-4C84-AFB4-2902CB0A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BDCEA-F11F-48E0-9C93-46FF1419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2228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Some real channels fall below 50 customers.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C9E24-8E0B-4BF3-B3D4-049DED6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38300"/>
            <a:ext cx="3143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CB223-2737-478D-8B8F-B614D724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38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65FBC-E6CD-4B91-9FC4-568DBAB8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1930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Attribution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911DC-7D21-439A-A7B8-CB8AE9B7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5C030-7DE2-4DC0-99E5-4B8477DE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2228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Missing and unclassified buckets remain.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149C9-5F10-467F-95B3-A5193A27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41DBE-CA94-45EA-B886-8F51A9BE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95650"/>
            <a:ext cx="2228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Imported, support, and technical sources are not clean acquisition channels.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5B9CB-1F85-4B12-B1B4-DCED2EC9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314325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A3E38-F9D4-40D1-B26F-31AC4FCB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F7B0E-A318-4A0A-999F-81E804B0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6C5FD-50C8-4CE7-9081-C1D4DDF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A5572-98BE-44A8-B93B-3AFF5FEE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67000"/>
            <a:ext cx="2228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GA4 exports overlap and are validation-only.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89156-5997-4699-83C6-4DB78F6D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E92AA-9091-4C4D-AE0E-6F00000C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95650"/>
            <a:ext cx="2228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Consumables logic depends on current product classification heuristics.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0E608-E888-4F1B-8405-85FD6199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C4267B-D16E-4731-8119-B1734E58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435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Important gap: this analysis compares customer value, not profitability. CAC/ROAS inputs are future work.</a:t>
            </a:r>
          </a:p>
        </p:txBody>
      </p:sp>
    </p:spTree>
    <p:extLst>
      <p:ext uri="{BB962C8B-B14F-4D97-AF65-F5344CB8AC3E}">
        <p14:creationId xmlns:p14="http://schemas.microsoft.com/office/powerpoint/2010/main" val="186742384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8D88D6-6115-46EE-8C13-0679B366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B85D4-60A1-4CC4-A526-1248F391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00DDE-AE47-4A6C-BEE0-5D68F188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76D68-67DF-4BC2-9D97-81246A8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Source: aggregate capstone outputs; public/school-safe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11A70-A623-4D41-824F-C38F1F8D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kicker-recommendations-marker">
            <a:extLst xmlns:a="http://schemas.openxmlformats.org/drawingml/2006/main">
              <a:ext uri="{FF2B5EF4-FFF2-40B4-BE49-F238E27FC236}">
                <a16:creationId xmlns:a16="http://schemas.microsoft.com/office/drawing/2014/main" id="{99774B3D-ECF3-431F-B783-A7744B1D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recommendations-label">
            <a:extLst xmlns:a="http://schemas.openxmlformats.org/drawingml/2006/main">
              <a:ext uri="{FF2B5EF4-FFF2-40B4-BE49-F238E27FC236}">
                <a16:creationId xmlns:a16="http://schemas.microsoft.com/office/drawing/2014/main" id="{D7B25ED8-F182-4016-8032-792AB54A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B6F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3811C-EE49-4246-A0C9-6EAF4E65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D2A2E"/>
                </a:solidFill>
                <a:latin typeface="Aptos Display"/>
                <a:ea typeface="Aptos Display"/>
                <a:cs typeface="Aptos Display"/>
              </a:rPr>
              <a:t>Next steps connect value signals to profitability and better capture.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13D53-8017-476D-B4EF-562D7A91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46A80-D172-4564-A694-DD1E2D9A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C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15460-25EC-497E-BFCD-0F0283ED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9C619-B077-4F23-9431-FB49158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097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Scale with guardrails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BC828-4B08-4D9D-A308-F492A6BD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3360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Continue investing in Paid Search, but monitor profitability and CAC before scaling aggressively.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F57FC-D74D-4478-A1B4-396AE0EA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383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FF8F8-35E0-493E-A8F1-C42C2A08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9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F7BBB-7882-4526-8550-AB4308C9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857CA-B537-4D3C-8863-F2EE84C3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Strengthen Organic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81DE8-566B-4399-82DE-65DE606C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Build on the strongest follow-on consumables signal with content and search improvements.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F7616-3114-4316-8912-5AA15A95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6FD58-92D4-4F61-8939-81C2923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F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7F140-CF60-4EB4-B4D9-A1FB6D87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75D8E-3345-40BD-914C-E770349E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097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Improve source capture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069C1-3989-4AA2-BED7-F389D662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3360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Tighten UTM discipline and CRM source mapping to reduce unclassified records.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690A7-E172-49D3-BADC-898214F8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290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5DC23-2AF5-47F2-B37C-F34E86D8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00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D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A97E7-02B8-4BCE-ACCC-C70A5AF1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576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E3552-DD08-4822-B103-CF7F3AB0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004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Add cost exports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F861E3-96B6-4412-A5BD-A91EDB60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2430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Bring in Google Ads, Meta, and other spend data for CAC, ROAS, and contribution analysis.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CDA7F1-52E2-49B3-B154-C745540E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C300AE-9E59-4FB1-A642-82D0B8C2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7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2AA301-8BC7-4CFA-8FA0-FCE70A18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1512E-1073-4A5A-AF78-A6F166BA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004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D2A2E"/>
                </a:solidFill>
                <a:latin typeface="Aptos"/>
                <a:ea typeface="Aptos"/>
                <a:cs typeface="Aptos"/>
              </a:rPr>
              <a:t>Keep outputs safe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AAA90-3ACA-4ECB-8FD9-B1332215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24300"/>
            <a:ext cx="2514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Connect future Console logic to aggregate-safe customer value metrics and preserve suppression rules.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E0A2B1-82F4-49BD-A6DF-5C09A05E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0439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4CA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6EEBF6-1302-4503-B332-919A603A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994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D2A2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A2E"/>
                </a:solidFill>
                <a:latin typeface="Aptos"/>
                <a:ea typeface="Aptos"/>
                <a:cs typeface="Aptos"/>
              </a:rPr>
              <a:t>Conclusion: Paid Search is the strongest current value/repeat signal; Organic Search deserves growth attention; future work should link value to CAC.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CD8484-0896-4C16-8452-50A81DB1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9750"/>
            <a:ext cx="994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E6B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F"/>
                </a:solidFill>
                <a:latin typeface="Aptos"/>
                <a:ea typeface="Aptos"/>
                <a:cs typeface="Aptos"/>
              </a:rPr>
              <a:t>AI disclosure: ChatGPT and Codex helped structure, script, document, and prepare sanitized materials; outputs were reviewed and raw data was kept private.</a:t>
            </a:r>
          </a:p>
        </p:txBody>
      </p:sp>
    </p:spTree>
    <p:extLst>
      <p:ext uri="{BB962C8B-B14F-4D97-AF65-F5344CB8AC3E}">
        <p14:creationId xmlns:p14="http://schemas.microsoft.com/office/powerpoint/2010/main" val="1822024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2026-05-27T02:46:46.3920000Z</dcterms:created>
  <dcterms:modified xsi:type="dcterms:W3CDTF">2026-05-27T02:46:46.3920000Z</dcterms:modified>
</coreProperties>
</file>